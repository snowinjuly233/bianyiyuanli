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5fef1fa7504ef1" /><Relationship Type="http://schemas.openxmlformats.org/officeDocument/2006/relationships/extended-properties" Target="/docProps/app.xml" Id="R633f3e50f32f48e6" /><Relationship Type="http://schemas.openxmlformats.org/officeDocument/2006/relationships/officeDocument" Target="/ppt/presentation.xml" Id="R2f34833083ff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264a10ed5b4c9c"/>
  </p:sldMasterIdLst>
  <p:notesMasterIdLst>
    <p:notesMasterId xmlns:r="http://schemas.openxmlformats.org/officeDocument/2006/relationships" r:id="Rfa92303c629046fe"/>
  </p:notesMasterIdLst>
  <p:sldIdLst>
    <p:sldId xmlns:r="http://schemas.openxmlformats.org/officeDocument/2006/relationships" id="256" r:id="Rd235d2cb64434720"/>
    <p:sldId xmlns:r="http://schemas.openxmlformats.org/officeDocument/2006/relationships" id="257" r:id="R3af526b770c54c54"/>
    <p:sldId xmlns:r="http://schemas.openxmlformats.org/officeDocument/2006/relationships" id="258" r:id="R6d91379fad0d4b06"/>
    <p:sldId xmlns:r="http://schemas.openxmlformats.org/officeDocument/2006/relationships" id="259" r:id="R7998efae67414b79"/>
    <p:sldId xmlns:r="http://schemas.openxmlformats.org/officeDocument/2006/relationships" id="260" r:id="R1460c1bd8e85405a"/>
    <p:sldId xmlns:r="http://schemas.openxmlformats.org/officeDocument/2006/relationships" id="261" r:id="Ra199bf702fbf4b44"/>
    <p:sldId xmlns:r="http://schemas.openxmlformats.org/officeDocument/2006/relationships" id="262" r:id="R2a8cfae6a4f641f1"/>
    <p:sldId xmlns:r="http://schemas.openxmlformats.org/officeDocument/2006/relationships" id="263" r:id="Rc0f5636956fb41b9"/>
    <p:sldId xmlns:r="http://schemas.openxmlformats.org/officeDocument/2006/relationships" id="264" r:id="Rb01ab2e70b7c43d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64a10ed5b4c9c" /><Relationship Type="http://schemas.openxmlformats.org/officeDocument/2006/relationships/theme" Target="/ppt/theme/theme1.xml" Id="R92996f9946054283" /><Relationship Type="http://schemas.openxmlformats.org/officeDocument/2006/relationships/notesMaster" Target="/ppt/notesMasters/notesMaster1.xml" Id="Rfa92303c629046fe" /><Relationship Type="http://schemas.openxmlformats.org/officeDocument/2006/relationships/presProps" Target="/ppt/presProps.xml" Id="R1431b94323f34377" /><Relationship Type="http://schemas.openxmlformats.org/officeDocument/2006/relationships/viewProps" Target="/ppt/viewProps.xml" Id="Rf1ee398568244a9a" /><Relationship Type="http://schemas.openxmlformats.org/officeDocument/2006/relationships/tableStyles" Target="/ppt/tableStyles.xml" Id="R59f874509d38414d" /><Relationship Type="http://schemas.openxmlformats.org/officeDocument/2006/relationships/slide" Target="/ppt/slides/slide1.xml" Id="Rd235d2cb64434720" /><Relationship Type="http://schemas.openxmlformats.org/officeDocument/2006/relationships/slide" Target="/ppt/slides/slide2.xml" Id="R3af526b770c54c54" /><Relationship Type="http://schemas.openxmlformats.org/officeDocument/2006/relationships/slide" Target="/ppt/slides/slide3.xml" Id="R6d91379fad0d4b06" /><Relationship Type="http://schemas.openxmlformats.org/officeDocument/2006/relationships/slide" Target="/ppt/slides/slide4.xml" Id="R7998efae67414b79" /><Relationship Type="http://schemas.openxmlformats.org/officeDocument/2006/relationships/slide" Target="/ppt/slides/slide5.xml" Id="R1460c1bd8e85405a" /><Relationship Type="http://schemas.openxmlformats.org/officeDocument/2006/relationships/slide" Target="/ppt/slides/slide6.xml" Id="Ra199bf702fbf4b44" /><Relationship Type="http://schemas.openxmlformats.org/officeDocument/2006/relationships/slide" Target="/ppt/slides/slide7.xml" Id="R2a8cfae6a4f641f1" /><Relationship Type="http://schemas.openxmlformats.org/officeDocument/2006/relationships/slide" Target="/ppt/slides/slide8.xml" Id="Rc0f5636956fb41b9" /><Relationship Type="http://schemas.openxmlformats.org/officeDocument/2006/relationships/slide" Target="/ppt/slides/slide9.xml" Id="Rb01ab2e70b7c43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3273fd074bc46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65e3398ce84785" /><Relationship Type="http://schemas.openxmlformats.org/officeDocument/2006/relationships/notesMaster" Target="/ppt/notesMasters/notesMaster1.xml" Id="R17133508f686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d56c36b3f4ee3" /><Relationship Type="http://schemas.openxmlformats.org/officeDocument/2006/relationships/notesMaster" Target="/ppt/notesMasters/notesMaster1.xml" Id="R4bebdf29255f4b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38de352a74a83" /><Relationship Type="http://schemas.openxmlformats.org/officeDocument/2006/relationships/notesMaster" Target="/ppt/notesMasters/notesMaster1.xml" Id="Raeb8c86b466c4a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4e32fa5dab487c" /><Relationship Type="http://schemas.openxmlformats.org/officeDocument/2006/relationships/notesMaster" Target="/ppt/notesMasters/notesMaster1.xml" Id="R389b541c998749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57949ca06e4f8e" /><Relationship Type="http://schemas.openxmlformats.org/officeDocument/2006/relationships/notesMaster" Target="/ppt/notesMasters/notesMaster1.xml" Id="R50ed847169ce42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a2737266d241b2" /><Relationship Type="http://schemas.openxmlformats.org/officeDocument/2006/relationships/notesMaster" Target="/ppt/notesMasters/notesMaster1.xml" Id="Reee28a16060149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f97351de0a4c1b" /><Relationship Type="http://schemas.openxmlformats.org/officeDocument/2006/relationships/notesMaster" Target="/ppt/notesMasters/notesMaster1.xml" Id="R0b7f0ae89f1645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74caefcf434697" /><Relationship Type="http://schemas.openxmlformats.org/officeDocument/2006/relationships/notesMaster" Target="/ppt/notesMasters/notesMaster1.xml" Id="R1f3b9d41f50d4a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d3bc84220c4eb8" /><Relationship Type="http://schemas.openxmlformats.org/officeDocument/2006/relationships/notesMaster" Target="/ppt/notesMasters/notesMaster1.xml" Id="R3f7dc74e80d2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87d02f4fa464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0d60bbc16d4042" /><Relationship Type="http://schemas.openxmlformats.org/officeDocument/2006/relationships/slideLayout" Target="/ppt/slideLayouts/slideLayout2.xml" Id="Rc693d5edde424d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93d5edde424d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a436dd61b4ffd" /><Relationship Type="http://schemas.openxmlformats.org/officeDocument/2006/relationships/notesSlide" Target="/ppt/notesSlides/notesSlide1.xml" Id="Rfae6e03a5b1541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3f3191faf34f20" /><Relationship Type="http://schemas.openxmlformats.org/officeDocument/2006/relationships/notesSlide" Target="/ppt/notesSlides/notesSlide2.xml" Id="Ra64d04e4a6bd4e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d37f1a3a814d67" /><Relationship Type="http://schemas.openxmlformats.org/officeDocument/2006/relationships/notesSlide" Target="/ppt/notesSlides/notesSlide3.xml" Id="R50174b808fa049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4cda2022154a64" /><Relationship Type="http://schemas.openxmlformats.org/officeDocument/2006/relationships/notesSlide" Target="/ppt/notesSlides/notesSlide4.xml" Id="Ra7ad93d8fad3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ab885f6944136" /><Relationship Type="http://schemas.openxmlformats.org/officeDocument/2006/relationships/notesSlide" Target="/ppt/notesSlides/notesSlide5.xml" Id="R19949bcccc834c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e7b097663484e" /><Relationship Type="http://schemas.openxmlformats.org/officeDocument/2006/relationships/notesSlide" Target="/ppt/notesSlides/notesSlide6.xml" Id="R21b5190f037c4e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288f781435405a" /><Relationship Type="http://schemas.openxmlformats.org/officeDocument/2006/relationships/notesSlide" Target="/ppt/notesSlides/notesSlide7.xml" Id="Rd56794d76ced48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cc965b92e54237" /><Relationship Type="http://schemas.openxmlformats.org/officeDocument/2006/relationships/notesSlide" Target="/ppt/notesSlides/notesSlide8.xml" Id="R6d4fa802474b48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ac84991c37406f" /><Relationship Type="http://schemas.openxmlformats.org/officeDocument/2006/relationships/notesSlide" Target="/ppt/notesSlides/notesSlide9.xml" Id="Rec0ffa2db7f741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B7363ED-8403-4506-AD48-3285EC03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编译原理课程实验答辩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9AA9272-D71E-41AE-8DB0-22CA5515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8204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SeuLex / SeuYacc / 语义分析 / IR 前端工具链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61537C-F118-4BF0-A5C4-54DCC08B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90868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冻结 MiniC 子集已经贯通：.l / .y 规格、独立 scanner / parser、AST、语义检查、中间代码、基本块、系统测试与最终提交物。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BF0CB79D-0708-4762-87F2-A656107E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854FC24E-0445-4B2E-9969-78395705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734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关键结果：最终 `specs/minic.l` 与 `specs/minic.y` 已冻结，当前测试链路覆盖词法、语法、AST、语义、IR 和端到端前端流程。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7C883AA-26EC-4C0A-9E22-FED866CA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1645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CompilerLab · E:\bianyiyuanli2\bianyiyuanli\compiler-lab</a:t>
            </a:r>
          </a:p>
        </p:txBody>
      </p:sp>
    </p:spTree>
    <p:extLst>
      <p:ext uri="{BB962C8B-B14F-4D97-AF65-F5344CB8AC3E}">
        <p14:creationId xmlns:p14="http://schemas.microsoft.com/office/powerpoint/2010/main" val="2380587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D55AB37-9CD0-436D-91AC-936F3D79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8667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1. 冻结子集与最终规格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13EE76-1B86-43C9-8731-B46666B7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D9F414B-5386-4BF7-8C90-8F5436F4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972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最终提交版以 `specs/minic.l` 和 `specs/minic.y` 为唯一真值源，词法、文法、语义动作和 IR 能力已经统一。</a:t>
            </a:r>
          </a:p>
        </p:txBody>
      </p:sp>
      <p:sp>
        <p:nvSpPr>
          <p:cNvPr id="4" name="scope-left-1">
            <a:extLst xmlns:a="http://schemas.openxmlformats.org/drawingml/2006/main">
              <a:ext uri="{FF2B5EF4-FFF2-40B4-BE49-F238E27FC236}">
                <a16:creationId xmlns:a16="http://schemas.microsoft.com/office/drawing/2014/main" id="{B9B0D568-CDF6-4FE2-B2BB-4D37B2D2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62000"/>
            <a:ext cx="70866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支持：`int / float / void`、函数定义、全局/局部变量、可选初始化、`if/else`、`while`、`return`。</a:t>
            </a:r>
          </a:p>
        </p:txBody>
      </p:sp>
      <p:sp>
        <p:nvSpPr>
          <p:cNvPr id="5" name="scope-left-2">
            <a:extLst xmlns:a="http://schemas.openxmlformats.org/drawingml/2006/main">
              <a:ext uri="{FF2B5EF4-FFF2-40B4-BE49-F238E27FC236}">
                <a16:creationId xmlns:a16="http://schemas.microsoft.com/office/drawing/2014/main" id="{84A281E6-6218-4788-A2B7-8A668C8D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24050"/>
            <a:ext cx="7200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表达式支持：字面量、标识符、函数调用、单目、乘加、关系、相等、逻辑与或和赋值。</a:t>
            </a:r>
          </a:p>
        </p:txBody>
      </p:sp>
      <p:sp>
        <p:nvSpPr>
          <p:cNvPr id="6" name="scope-left-3">
            <a:extLst xmlns:a="http://schemas.openxmlformats.org/drawingml/2006/main">
              <a:ext uri="{FF2B5EF4-FFF2-40B4-BE49-F238E27FC236}">
                <a16:creationId xmlns:a16="http://schemas.microsoft.com/office/drawing/2014/main" id="{2212A7C4-E2EB-4A7A-B382-DCC3BA83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81300"/>
            <a:ext cx="6781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提交语义：`minic.y` 中的动作块已经是最终 translation scheme，由 `SemanticActionExecutor` 在规约时执行。</a:t>
            </a:r>
          </a:p>
        </p:txBody>
      </p:sp>
      <p:sp>
        <p:nvSpPr>
          <p:cNvPr id="7" name="scope-right-1">
            <a:extLst xmlns:a="http://schemas.openxmlformats.org/drawingml/2006/main">
              <a:ext uri="{FF2B5EF4-FFF2-40B4-BE49-F238E27FC236}">
                <a16:creationId xmlns:a16="http://schemas.microsoft.com/office/drawing/2014/main" id="{6BDDACBD-629F-4151-BADC-838107FE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7124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不支持：数组、指针、结构体、字符串、`for`、`break/continue`、多声明符。</a:t>
            </a:r>
          </a:p>
        </p:txBody>
      </p:sp>
      <p:sp>
        <p:nvSpPr>
          <p:cNvPr id="8" name="scope-right-2">
            <a:extLst xmlns:a="http://schemas.openxmlformats.org/drawingml/2006/main">
              <a:ext uri="{FF2B5EF4-FFF2-40B4-BE49-F238E27FC236}">
                <a16:creationId xmlns:a16="http://schemas.microsoft.com/office/drawing/2014/main" id="{713615E7-5D8E-4725-A9CA-AF84693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5600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这样做的目的不是复刻完整 C 编译器，而是把课程要求中的前端链路做闭合。</a:t>
            </a:r>
          </a:p>
        </p:txBody>
      </p:sp>
      <p:sp>
        <p:nvSpPr>
          <p:cNvPr id="9" name="scope-files">
            <a:extLst xmlns:a="http://schemas.openxmlformats.org/drawingml/2006/main">
              <a:ext uri="{FF2B5EF4-FFF2-40B4-BE49-F238E27FC236}">
                <a16:creationId xmlns:a16="http://schemas.microsoft.com/office/drawing/2014/main" id="{A017C16F-5AEF-402D-B3FD-A5F9C654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7716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specs/minic.l</a:t>
            </a:r>
          </a:p>
          <a:p xmlns:a="http://schemas.openxmlformats.org/drawingml/2006/main">
            <a:pPr>
              <a:defRPr sz="19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specs/minic.y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8AA1DEA3-33AC-43BD-AC83-BD42A2D8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71900"/>
            <a:ext cx="710565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提交规格已经与 Stage 6 测试和 Stage 7 提交包保持一致。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5858636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DA69D9F-71D5-4453-BEDB-B64C509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2. 前端主链路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E7D8EF8-AC18-4861-8113-21D5A0B9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F660567-DEB3-466A-B028-A0402DCA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6400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这套实验现在不是零散模块，而是一条完整的工具链。</a:t>
            </a:r>
          </a:p>
        </p:txBody>
      </p:sp>
      <p:sp>
        <p:nvSpPr>
          <p:cNvPr id="4" name="pipeline">
            <a:extLst xmlns:a="http://schemas.openxmlformats.org/drawingml/2006/main">
              <a:ext uri="{FF2B5EF4-FFF2-40B4-BE49-F238E27FC236}">
                <a16:creationId xmlns:a16="http://schemas.microsoft.com/office/drawing/2014/main" id="{AD7D8925-8907-4D4C-8AF0-5E00F457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085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specs/minic.l  -&gt;  SeuLex  -&gt;  scanner runtime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specs/minic.y  -&gt;  SeuYacc -&gt;  parser table + semantic actions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tokens  -&gt;  parse  -&gt;  AST  -&gt;  semantic analyze  -&gt;  IR  -&gt;  basic blocks</a:t>
            </a:r>
          </a:p>
        </p:txBody>
      </p:sp>
      <p:sp>
        <p:nvSpPr>
          <p:cNvPr id="5" name="pipeline-1">
            <a:extLst xmlns:a="http://schemas.openxmlformats.org/drawingml/2006/main">
              <a:ext uri="{FF2B5EF4-FFF2-40B4-BE49-F238E27FC236}">
                <a16:creationId xmlns:a16="http://schemas.microsoft.com/office/drawing/2014/main" id="{99444C86-E713-413C-B3FF-D3C48516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3201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`frontend.exe` 现在会输出 token 统计、LR/LALR 状态数、AST 根类型、语义分析结果、IR 条数和 basic block 条数。</a:t>
            </a:r>
          </a:p>
        </p:txBody>
      </p:sp>
      <p:sp>
        <p:nvSpPr>
          <p:cNvPr id="6" name="pipeline-2">
            <a:extLst xmlns:a="http://schemas.openxmlformats.org/drawingml/2006/main">
              <a:ext uri="{FF2B5EF4-FFF2-40B4-BE49-F238E27FC236}">
                <a16:creationId xmlns:a16="http://schemas.microsoft.com/office/drawing/2014/main" id="{7B7677D6-4D21-4D95-BD61-315C5E20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3887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 `feature_coverage.c` 的最新实测结果：`Tokens 83`、`LR(1) 253`、`LALR(1) 116`、`IR quads 36`、`Basic blocks 9`。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5CCF9FD-E78E-4CA2-A9D6-41BC1EBB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645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主入口：src/tools/frontend_main.cpp</a:t>
            </a:r>
          </a:p>
        </p:txBody>
      </p:sp>
    </p:spTree>
    <p:extLst>
      <p:ext uri="{BB962C8B-B14F-4D97-AF65-F5344CB8AC3E}">
        <p14:creationId xmlns:p14="http://schemas.microsoft.com/office/powerpoint/2010/main" val="2068909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A7C4793-09C1-46F9-AFD8-B5823F95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7886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3. 生成器成果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C40C04-F87B-40BE-8A4E-14B7069C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BABFFB9-64E9-45BC-8D90-DB6FFF3F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807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词法和语法两端都已经能产出独立可编译的 scanner / parser 源码。</a:t>
            </a:r>
          </a:p>
        </p:txBody>
      </p:sp>
      <p:sp>
        <p:nvSpPr>
          <p:cNvPr id="4" name="lex-head">
            <a:extLst xmlns:a="http://schemas.openxmlformats.org/drawingml/2006/main">
              <a:ext uri="{FF2B5EF4-FFF2-40B4-BE49-F238E27FC236}">
                <a16:creationId xmlns:a16="http://schemas.microsoft.com/office/drawing/2014/main" id="{970F0011-9B40-430D-9550-3A7A9DF8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62000"/>
            <a:ext cx="7886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SeuLex</a:t>
            </a:r>
          </a:p>
        </p:txBody>
      </p:sp>
      <p:sp>
        <p:nvSpPr>
          <p:cNvPr id="5" name="lex-1">
            <a:extLst xmlns:a="http://schemas.openxmlformats.org/drawingml/2006/main">
              <a:ext uri="{FF2B5EF4-FFF2-40B4-BE49-F238E27FC236}">
                <a16:creationId xmlns:a16="http://schemas.microsoft.com/office/drawing/2014/main" id="{2D28D4DD-D017-41F2-AF0B-A702BEFF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71600"/>
            <a:ext cx="567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完成 `.l -&gt; NFA -&gt; DFA -&gt; 最小化 DFA -&gt; 独立 scanner`。</a:t>
            </a:r>
          </a:p>
        </p:txBody>
      </p:sp>
      <p:sp>
        <p:nvSpPr>
          <p:cNvPr id="6" name="lex-2">
            <a:extLst xmlns:a="http://schemas.openxmlformats.org/drawingml/2006/main">
              <a:ext uri="{FF2B5EF4-FFF2-40B4-BE49-F238E27FC236}">
                <a16:creationId xmlns:a16="http://schemas.microsoft.com/office/drawing/2014/main" id="{B6648940-5C9F-4DD9-9151-56C737B6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544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当前 `specs/minic.l` 实测状态数：61 -&gt; 58。</a:t>
            </a:r>
          </a:p>
        </p:txBody>
      </p:sp>
      <p:sp>
        <p:nvSpPr>
          <p:cNvPr id="7" name="lex-files">
            <a:extLst xmlns:a="http://schemas.openxmlformats.org/drawingml/2006/main">
              <a:ext uri="{FF2B5EF4-FFF2-40B4-BE49-F238E27FC236}">
                <a16:creationId xmlns:a16="http://schemas.microsoft.com/office/drawing/2014/main" id="{8A815CA7-A52A-40A3-BBA6-A92A31FD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36766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generated/minic_scanner.h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generated/minic_scanner.cpp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generated/minic_scanner_main.cpp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generated/dfa.dot</a:t>
            </a:r>
          </a:p>
        </p:txBody>
      </p:sp>
      <p:sp>
        <p:nvSpPr>
          <p:cNvPr id="8" name="yacc-head">
            <a:extLst xmlns:a="http://schemas.openxmlformats.org/drawingml/2006/main">
              <a:ext uri="{FF2B5EF4-FFF2-40B4-BE49-F238E27FC236}">
                <a16:creationId xmlns:a16="http://schemas.microsoft.com/office/drawing/2014/main" id="{2C7F7D73-ACDA-40CF-AC2E-5070E2F3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7886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SeuYacc</a:t>
            </a:r>
          </a:p>
        </p:txBody>
      </p:sp>
      <p:sp>
        <p:nvSpPr>
          <p:cNvPr id="9" name="yacc-1">
            <a:extLst xmlns:a="http://schemas.openxmlformats.org/drawingml/2006/main">
              <a:ext uri="{FF2B5EF4-FFF2-40B4-BE49-F238E27FC236}">
                <a16:creationId xmlns:a16="http://schemas.microsoft.com/office/drawing/2014/main" id="{B01FBC4F-2247-42EC-877E-3A781542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5734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完成 `.y -&gt; LR(1) -&gt; LALR(1) -&gt; 分析表 -&gt; 独立 parser`。</a:t>
            </a:r>
          </a:p>
        </p:txBody>
      </p:sp>
      <p:sp>
        <p:nvSpPr>
          <p:cNvPr id="10" name="yacc-2">
            <a:extLst xmlns:a="http://schemas.openxmlformats.org/drawingml/2006/main">
              <a:ext uri="{FF2B5EF4-FFF2-40B4-BE49-F238E27FC236}">
                <a16:creationId xmlns:a16="http://schemas.microsoft.com/office/drawing/2014/main" id="{2473243A-B377-4F9C-80FB-038725D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4781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生成出来的 parser 也会执行 translation scheme，并返回 `Program` AST。</a:t>
            </a:r>
          </a:p>
        </p:txBody>
      </p:sp>
      <p:sp>
        <p:nvSpPr>
          <p:cNvPr id="11" name="yacc-files">
            <a:extLst xmlns:a="http://schemas.openxmlformats.org/drawingml/2006/main">
              <a:ext uri="{FF2B5EF4-FFF2-40B4-BE49-F238E27FC236}">
                <a16:creationId xmlns:a16="http://schemas.microsoft.com/office/drawing/2014/main" id="{91843C26-4125-4C43-B656-4D7CFC69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0"/>
            <a:ext cx="35623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generated/minic_parser.h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generated/minic_parser.cpp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generated/minic_parser_main.cpp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generated/CMakeLists.txt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966F02A0-C809-4EDA-A7B9-7F367104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67200"/>
            <a:ext cx="788670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生成器源码在 src/seulex、src/seuyacc，产物在 generated/。</a:t>
            </a:r>
          </a:p>
        </p:txBody>
      </p:sp>
    </p:spTree>
    <p:extLst>
      <p:ext uri="{BB962C8B-B14F-4D97-AF65-F5344CB8AC3E}">
        <p14:creationId xmlns:p14="http://schemas.microsoft.com/office/powerpoint/2010/main" val="1871873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8AEA640-07E6-471D-9EAF-BBD1D78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4. 语义分析与 IR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5D4D031-7544-4ABF-B6BF-5005149E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0C5392E-5A37-423E-BB60-08B929EF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058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AST、语义检查、三地址码和 basic block 已经贯通，并有展示样例可直接答辩演示。</a:t>
            </a:r>
          </a:p>
        </p:txBody>
      </p:sp>
      <p:sp>
        <p:nvSpPr>
          <p:cNvPr id="4" name="sem-1">
            <a:extLst xmlns:a="http://schemas.openxmlformats.org/drawingml/2006/main">
              <a:ext uri="{FF2B5EF4-FFF2-40B4-BE49-F238E27FC236}">
                <a16:creationId xmlns:a16="http://schemas.microsoft.com/office/drawing/2014/main" id="{F235E1A6-8FA7-44F1-87AB-DBDB092B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2649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语义规则覆盖：重定义、未声明标识符、调用错误、参数个数/类型不匹配、赋值/初始化类型错误、if/while 条件类型、return 语义。</a:t>
            </a:r>
          </a:p>
        </p:txBody>
      </p:sp>
      <p:sp>
        <p:nvSpPr>
          <p:cNvPr id="5" name="sem-2">
            <a:extLst xmlns:a="http://schemas.openxmlformats.org/drawingml/2006/main">
              <a:ext uri="{FF2B5EF4-FFF2-40B4-BE49-F238E27FC236}">
                <a16:creationId xmlns:a16="http://schemas.microsoft.com/office/drawing/2014/main" id="{F085C211-3A74-4200-A08F-8125EA47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428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输出样例：`output/minic_demo.ast.*`、`output/feature_coverage.ast.*`、`output/feature_coverage.ir.txt`、`output/feature_coverage.blocks.txt`。</a:t>
            </a:r>
          </a:p>
        </p:txBody>
      </p:sp>
      <p:sp>
        <p:nvSpPr>
          <p:cNvPr id="6" name="ir-snippet">
            <a:extLst xmlns:a="http://schemas.openxmlformats.org/drawingml/2006/main">
              <a:ext uri="{FF2B5EF4-FFF2-40B4-BE49-F238E27FC236}">
                <a16:creationId xmlns:a16="http://schemas.microsoft.com/office/drawing/2014/main" id="{FF5E4BA4-9F09-46ED-846F-96554F83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38125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assign t0 = 1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assign seed = t0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call t6 = twice, 1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cmp_gt t13 = y, t12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jmp_false L3 = t13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ret y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56FFEA1-DA3C-4853-A0A9-F69BB44E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48550"/>
            <a:ext cx="1645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详细说明见 docs/semantic_ir_report.md</a:t>
            </a:r>
          </a:p>
        </p:txBody>
      </p:sp>
    </p:spTree>
    <p:extLst>
      <p:ext uri="{BB962C8B-B14F-4D97-AF65-F5344CB8AC3E}">
        <p14:creationId xmlns:p14="http://schemas.microsoft.com/office/powerpoint/2010/main" val="17015490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3E42178-B6BC-4A01-BEEC-71F7FF94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29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5. 测试体系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94BB82-2CCF-42E8-8DFE-96C129C8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C0B57A8-9E5A-43E4-979C-6829D27C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115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Stage 6 已经把词法、语法、AST、语义、IR 和端到端流程都做成可重复执行的脚本。</a:t>
            </a:r>
          </a:p>
        </p:txBody>
      </p:sp>
      <p:sp>
        <p:nvSpPr>
          <p:cNvPr id="4" name="testing-head">
            <a:extLst xmlns:a="http://schemas.openxmlformats.org/drawingml/2006/main">
              <a:ext uri="{FF2B5EF4-FFF2-40B4-BE49-F238E27FC236}">
                <a16:creationId xmlns:a16="http://schemas.microsoft.com/office/drawing/2014/main" id="{02098E90-09F8-4290-BF3E-983C942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62000"/>
            <a:ext cx="914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覆盖范围</a:t>
            </a:r>
          </a:p>
        </p:txBody>
      </p:sp>
      <p:sp>
        <p:nvSpPr>
          <p:cNvPr id="5" name="test-1">
            <a:extLst xmlns:a="http://schemas.openxmlformats.org/drawingml/2006/main">
              <a:ext uri="{FF2B5EF4-FFF2-40B4-BE49-F238E27FC236}">
                <a16:creationId xmlns:a16="http://schemas.microsoft.com/office/drawing/2014/main" id="{1E9FDF72-07C8-4CEE-AF42-780E1120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95400"/>
            <a:ext cx="401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Lex: 6 个 golden case，全通过。</a:t>
            </a:r>
          </a:p>
        </p:txBody>
      </p:sp>
      <p:sp>
        <p:nvSpPr>
          <p:cNvPr id="6" name="test-2">
            <a:extLst xmlns:a="http://schemas.openxmlformats.org/drawingml/2006/main">
              <a:ext uri="{FF2B5EF4-FFF2-40B4-BE49-F238E27FC236}">
                <a16:creationId xmlns:a16="http://schemas.microsoft.com/office/drawing/2014/main" id="{597C5F5B-8CAF-401F-B613-B15032CC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491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Yacc: 合法/非法样例、生成 parser AST。</a:t>
            </a:r>
          </a:p>
        </p:txBody>
      </p:sp>
      <p:sp>
        <p:nvSpPr>
          <p:cNvPr id="7" name="test-3">
            <a:extLst xmlns:a="http://schemas.openxmlformats.org/drawingml/2006/main">
              <a:ext uri="{FF2B5EF4-FFF2-40B4-BE49-F238E27FC236}">
                <a16:creationId xmlns:a16="http://schemas.microsoft.com/office/drawing/2014/main" id="{F6E58C3A-FB97-4128-AED3-D38495B6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Semantic: 2 个合法样例 + 15 个错误样例。</a:t>
            </a:r>
          </a:p>
        </p:txBody>
      </p:sp>
      <p:sp>
        <p:nvSpPr>
          <p:cNvPr id="8" name="test-4">
            <a:extLst xmlns:a="http://schemas.openxmlformats.org/drawingml/2006/main">
              <a:ext uri="{FF2B5EF4-FFF2-40B4-BE49-F238E27FC236}">
                <a16:creationId xmlns:a16="http://schemas.microsoft.com/office/drawing/2014/main" id="{EC6BEF22-3DA9-4791-9501-74FC67D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4629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IR: golden IR + golden basic block。</a:t>
            </a:r>
          </a:p>
        </p:txBody>
      </p:sp>
      <p:sp>
        <p:nvSpPr>
          <p:cNvPr id="9" name="test-5">
            <a:extLst xmlns:a="http://schemas.openxmlformats.org/drawingml/2006/main">
              <a:ext uri="{FF2B5EF4-FFF2-40B4-BE49-F238E27FC236}">
                <a16:creationId xmlns:a16="http://schemas.microsoft.com/office/drawing/2014/main" id="{46A685D1-8CBC-42B4-A4C2-71CAD11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Frontend: 端到端接受/拒绝与产物落盘。</a:t>
            </a:r>
          </a:p>
        </p:txBody>
      </p:sp>
      <p:sp>
        <p:nvSpPr>
          <p:cNvPr id="10" name="test-files">
            <a:extLst xmlns:a="http://schemas.openxmlformats.org/drawingml/2006/main">
              <a:ext uri="{FF2B5EF4-FFF2-40B4-BE49-F238E27FC236}">
                <a16:creationId xmlns:a16="http://schemas.microsoft.com/office/drawing/2014/main" id="{57F1CD7C-95F2-43B6-B9AF-E2238F81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5905500" cy="548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tests/lex/results/lex_test_results.md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tests/yacc/results/yacc_test_results.md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tests/semantic/results/semantic_test_results.md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tests/ir/results/ir_test_results.md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tests/frontend/results/frontend_test_results.md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tests/results/stage6_test_results.md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78BB35A-8B55-4442-BFF8-A7A1195F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71900"/>
            <a:ext cx="9144000" cy="548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统一入口：powershell -ExecutionPolicy Bypass -File tests/run_stage6_tests.ps1</a:t>
            </a:r>
          </a:p>
        </p:txBody>
      </p:sp>
    </p:spTree>
    <p:extLst>
      <p:ext uri="{BB962C8B-B14F-4D97-AF65-F5344CB8AC3E}">
        <p14:creationId xmlns:p14="http://schemas.microsoft.com/office/powerpoint/2010/main" val="10250374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7E75D71-1DE1-4E32-A86A-670C2061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6. 最终提交包结构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E2D8DA-A0C4-46E4-9BDF-53D78C9F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1B73FF1-9F9D-404D-8F7F-367810E0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982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Stage 7 的目标不是继续写功能，而是把已有成果整理成老师一眼能验收的提交物。</a:t>
            </a:r>
          </a:p>
        </p:txBody>
      </p:sp>
      <p:sp>
        <p:nvSpPr>
          <p:cNvPr id="4" name="package-tree">
            <a:extLst xmlns:a="http://schemas.openxmlformats.org/drawingml/2006/main">
              <a:ext uri="{FF2B5EF4-FFF2-40B4-BE49-F238E27FC236}">
                <a16:creationId xmlns:a16="http://schemas.microsoft.com/office/drawing/2014/main" id="{6961CEF1-E516-4A54-B592-01276767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79248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submission/final/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specs/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src/common runtime seulex seuyacc semantic ir tools/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generated/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tests/*/results/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output/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docs/</a:t>
            </a:r>
          </a:p>
          <a:p xmlns:a="http://schemas.openxmlformats.org/drawingml/2006/main">
            <a:pPr>
              <a:defRPr sz="21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ppt/</a:t>
            </a:r>
          </a:p>
        </p:txBody>
      </p:sp>
      <p:sp>
        <p:nvSpPr>
          <p:cNvPr id="5" name="package-1">
            <a:extLst xmlns:a="http://schemas.openxmlformats.org/drawingml/2006/main">
              <a:ext uri="{FF2B5EF4-FFF2-40B4-BE49-F238E27FC236}">
                <a16:creationId xmlns:a16="http://schemas.microsoft.com/office/drawing/2014/main" id="{5B7605AC-FF1A-488D-9C56-8BAA273B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3925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打包入口：`submission/package_submission.ps1`。它会把最终规格、源码、生成产物、测试报告、展示样例和 PPT 复制到 `submission/final/`。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4DF39CA-7587-4BC2-ABB3-566E425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1645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清单说明见 docs/submission_manifest.md</a:t>
            </a:r>
          </a:p>
        </p:txBody>
      </p:sp>
    </p:spTree>
    <p:extLst>
      <p:ext uri="{BB962C8B-B14F-4D97-AF65-F5344CB8AC3E}">
        <p14:creationId xmlns:p14="http://schemas.microsoft.com/office/powerpoint/2010/main" val="4732120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EBD660A-CBDB-4EA6-BA1A-7E6363C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7886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7. 实验报告与答辩材料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0FA91D-A902-4DE4-AB9A-9A6E7C2F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EDBB4F6-C89D-4134-9C80-A74911B6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8267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除 Lex 报告外，当前仓库已补齐 Yacc、语义/IR、总报告和答辩 PPT。</a:t>
            </a:r>
          </a:p>
        </p:txBody>
      </p:sp>
      <p:sp>
        <p:nvSpPr>
          <p:cNvPr id="4" name="report-files">
            <a:extLst xmlns:a="http://schemas.openxmlformats.org/drawingml/2006/main">
              <a:ext uri="{FF2B5EF4-FFF2-40B4-BE49-F238E27FC236}">
                <a16:creationId xmlns:a16="http://schemas.microsoft.com/office/drawing/2014/main" id="{A2D37FD5-0037-4A47-870F-DA58ED3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62000"/>
            <a:ext cx="3543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docs/seulex_report.md</a:t>
            </a:r>
          </a:p>
          <a:p xmlns:a="http://schemas.openxmlformats.org/drawingml/2006/main">
            <a:pPr>
              <a:defRPr sz="19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docs/seuyacc_report.md</a:t>
            </a:r>
          </a:p>
          <a:p xmlns:a="http://schemas.openxmlformats.org/drawingml/2006/main">
            <a:pPr>
              <a:defRPr sz="19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docs/semantic_ir_report.md</a:t>
            </a:r>
          </a:p>
          <a:p xmlns:a="http://schemas.openxmlformats.org/drawingml/2006/main">
            <a:pPr>
              <a:defRPr sz="195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docs/final_report.md</a:t>
            </a:r>
          </a:p>
        </p:txBody>
      </p:sp>
      <p:sp>
        <p:nvSpPr>
          <p:cNvPr id="5" name="ppt-1">
            <a:extLst xmlns:a="http://schemas.openxmlformats.org/drawingml/2006/main">
              <a:ext uri="{FF2B5EF4-FFF2-40B4-BE49-F238E27FC236}">
                <a16:creationId xmlns:a16="http://schemas.microsoft.com/office/drawing/2014/main" id="{74CF1A23-F34A-49E5-A395-15C2828C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5772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答辩 PPT 会一起放进 `submission/final/ppt/`。</a:t>
            </a:r>
          </a:p>
        </p:txBody>
      </p:sp>
      <p:sp>
        <p:nvSpPr>
          <p:cNvPr id="6" name="ppt-2">
            <a:extLst xmlns:a="http://schemas.openxmlformats.org/drawingml/2006/main">
              <a:ext uri="{FF2B5EF4-FFF2-40B4-BE49-F238E27FC236}">
                <a16:creationId xmlns:a16="http://schemas.microsoft.com/office/drawing/2014/main" id="{BCC43196-79B7-430E-AE4D-FDC82B41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同时保留预览图和质检报告，便于老师查阅或你自己二次修改。</a:t>
            </a:r>
          </a:p>
        </p:txBody>
      </p:sp>
      <p:sp>
        <p:nvSpPr>
          <p:cNvPr id="7" name="ppt-files">
            <a:extLst xmlns:a="http://schemas.openxmlformats.org/drawingml/2006/main">
              <a:ext uri="{FF2B5EF4-FFF2-40B4-BE49-F238E27FC236}">
                <a16:creationId xmlns:a16="http://schemas.microsoft.com/office/drawing/2014/main" id="{F24935DC-7EFB-42C2-8DFB-AFBD50DB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36385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compiler_lab_defense.pptx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slide-01.png ... slide-08.png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quality-report.json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DED57B4-B3B9-4450-8047-148B15F2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7886700" cy="681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报告以 Markdown 保存，便于继续补图或导出 PDF。</a:t>
            </a:r>
          </a:p>
        </p:txBody>
      </p:sp>
    </p:spTree>
    <p:extLst>
      <p:ext uri="{BB962C8B-B14F-4D97-AF65-F5344CB8AC3E}">
        <p14:creationId xmlns:p14="http://schemas.microsoft.com/office/powerpoint/2010/main" val="12779358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9882EF5-33E9-4809-AF1A-AFB82DE3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8. 当前状态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72596F-13D3-492B-A4BC-E9FC2655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481ABB2-7413-4A9A-A6D5-46A88D66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8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这个实验现在已经从 skeleton 推进到“可演示、可测试、可提交”的完整状态。</a:t>
            </a:r>
          </a:p>
        </p:txBody>
      </p:sp>
      <p:sp>
        <p:nvSpPr>
          <p:cNvPr id="4" name="close-1">
            <a:extLst xmlns:a="http://schemas.openxmlformats.org/drawingml/2006/main">
              <a:ext uri="{FF2B5EF4-FFF2-40B4-BE49-F238E27FC236}">
                <a16:creationId xmlns:a16="http://schemas.microsoft.com/office/drawing/2014/main" id="{7CA1A2FE-757C-4B2D-B74C-A4CF1749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3620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建议现场演示顺序：先展示 `tests/run_stage6_tests.ps1` 的通过结果，再打开 `output/feature_coverage.ir.txt` 和 `generated/minic_parser.cpp`。</a:t>
            </a:r>
          </a:p>
        </p:txBody>
      </p:sp>
      <p:sp>
        <p:nvSpPr>
          <p:cNvPr id="5" name="close-2">
            <a:extLst xmlns:a="http://schemas.openxmlformats.org/drawingml/2006/main">
              <a:ext uri="{FF2B5EF4-FFF2-40B4-BE49-F238E27FC236}">
                <a16:creationId xmlns:a16="http://schemas.microsoft.com/office/drawing/2014/main" id="{3546693B-B05D-470A-B871-182D580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3487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如果老师问实现边界，就强调：本项目服务于冻结 MiniC 子集，不追求完整 flex / bison 或完整 C 编译器兼容性。</a:t>
            </a:r>
          </a:p>
        </p:txBody>
      </p:sp>
      <p:sp>
        <p:nvSpPr>
          <p:cNvPr id="6" name="close-cmd">
            <a:extLst xmlns:a="http://schemas.openxmlformats.org/drawingml/2006/main">
              <a:ext uri="{FF2B5EF4-FFF2-40B4-BE49-F238E27FC236}">
                <a16:creationId xmlns:a16="http://schemas.microsoft.com/office/drawing/2014/main" id="{303F43E9-FAD0-48BD-B6FD-FFA50704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2820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powershell -ExecutionPolicy Bypass -File tests/run_stage6_tests.ps1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build-x64-debug/bin/frontend.exe tests/ir/inputs/feature_coverage.c specs/minic.l specs/minic.y output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28DB326-8246-4016-ADF0-FC2541DA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645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CompilerLab · Stage 7 submission package ready</a:t>
            </a:r>
          </a:p>
        </p:txBody>
      </p:sp>
    </p:spTree>
    <p:extLst>
      <p:ext uri="{BB962C8B-B14F-4D97-AF65-F5344CB8AC3E}">
        <p14:creationId xmlns:p14="http://schemas.microsoft.com/office/powerpoint/2010/main" val="124104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2026-05-01T03:32:01.6950000Z</dcterms:created>
  <dcterms:modified xsi:type="dcterms:W3CDTF">2026-05-01T03:32:01.6950000Z</dcterms:modified>
</coreProperties>
</file>